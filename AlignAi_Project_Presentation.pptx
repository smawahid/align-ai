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1E-4D65-9FBB-360EC42D5ED1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1E-4D65-9FBB-360EC42D5E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Semantic</c:v>
                </c:pt>
                <c:pt idx="1">
                  <c:v>Keyword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1E-4D65-9FBB-360EC42D5E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D4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88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05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AlignAI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1737360" y="1920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Resume Matcher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37360" y="2514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Match smarter. Bridge gaps. Land the role.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37360" y="3017520"/>
            <a:ext cx="1143000" cy="2743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17373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Next.js 15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71800" y="3017520"/>
            <a:ext cx="114300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297180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FastAPI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06240" y="3017520"/>
            <a:ext cx="1143000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420624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WebSocket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440680" y="3017520"/>
            <a:ext cx="1143000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44068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Jina AI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675120" y="3017520"/>
            <a:ext cx="114300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667512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Groq LLaMA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909560" y="3017520"/>
            <a:ext cx="1143000" cy="274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79095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PostgreSQL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73736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Naheel  ·  Mawahid  ·  Sohaib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Why ATS systems reject 75% of resumes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783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Solution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011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What AlignAI does differently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514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2743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Three-tier stack: Next.js · FastAPI · PostgreSQL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5720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3246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474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Embeddings, hybrid scoring, gap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3977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WebSocket Live Updates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server events to the frontend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07899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75488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93792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93792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OCR, multi-format, ATS resume, download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81051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75488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93792" y="1783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 Stack Deep Dive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3792" y="2011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Every library and why we chose it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54203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5488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93792" y="2514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93792" y="2743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Rate limiting, CORS, no disk I/O, validated inputs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27355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75488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93792" y="3246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&amp; Work Division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93792" y="3474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Naheel · Mawahid · Sohaib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4005072"/>
            <a:ext cx="347472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47548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3977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 &amp; Conclusion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93792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Results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DC2626">
              <a:alpha val="9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1371600"/>
          </a:xfrm>
          <a:prstGeom prst="rect">
            <a:avLst/>
          </a:prstGeom>
          <a:solidFill>
            <a:srgbClr val="1E2D4D"/>
          </a:solidFill>
          <a:ln w="127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F4444"/>
                </a:solidFill>
              </a:rPr>
              <a:t>75%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of resumes rejected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ATS before human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5394960" cy="1097280"/>
          </a:xfrm>
          <a:prstGeom prst="rect">
            <a:avLst/>
          </a:prstGeom>
          <a:solidFill>
            <a:srgbClr val="1E2D4D"/>
          </a:solidFill>
          <a:ln w="127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502152" y="1316736"/>
            <a:ext cx="475488" cy="4754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14173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0" y="11155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feedback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140817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Candidates don't know why they were rejected or what's missing.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2286000"/>
            <a:ext cx="5394960" cy="1097280"/>
          </a:xfrm>
          <a:prstGeom prst="rect">
            <a:avLst/>
          </a:prstGeom>
          <a:solidFill>
            <a:srgbClr val="1E2D4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502152" y="2596896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26974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0" y="23957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Keyword blindness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114800" y="26883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Small wording differences cause mismatches ATS can't resolve.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337560" y="3566160"/>
            <a:ext cx="5394960" cy="1097280"/>
          </a:xfrm>
          <a:prstGeom prst="rect">
            <a:avLst/>
          </a:prstGeom>
          <a:solidFill>
            <a:srgbClr val="1E2D4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3502152" y="3877056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9776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114800" y="367588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Manual guesswork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114800" y="39684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Manually tailoring resumes is slow, inconsistent, and error-prone.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AlignAI — 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An AI-powered resume–job description alignment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43200" cy="160020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30352" y="1426464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5270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Scoring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1371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#1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185623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768/1024-dim embedding vectors from Jina AI or Gemini measure true meaning.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1261872"/>
            <a:ext cx="2743200" cy="1600200"/>
          </a:xfrm>
          <a:prstGeom prst="rect">
            <a:avLst/>
          </a:prstGeom>
          <a:solidFill>
            <a:srgbClr val="1E2D4D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456432" y="1426464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5270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59936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Keyword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0" y="1371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#2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56432" y="185623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TF-weighted bigram overlap catches technical terms and compound skills.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17920" y="1261872"/>
            <a:ext cx="2743200" cy="1600200"/>
          </a:xfrm>
          <a:prstGeom prst="rect">
            <a:avLst/>
          </a:prstGeom>
          <a:solidFill>
            <a:srgbClr val="1E2D4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6382512" y="1426464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5270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86016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Gap Analysis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95360" y="1371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#3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82512" y="185623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Groq LLaMA 3.3 identifies missing skills with resource links.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65760" y="2999232"/>
            <a:ext cx="2743200" cy="160020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19"/>
          <p:cNvSpPr/>
          <p:nvPr/>
        </p:nvSpPr>
        <p:spPr>
          <a:xfrm>
            <a:off x="530352" y="3163824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26440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33856" y="3127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ATS Resume Builder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2743200" y="3108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#4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30352" y="35935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 rewrites your resume in Harvard format, tailored to the role.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91840" y="2999232"/>
            <a:ext cx="2743200" cy="1600200"/>
          </a:xfrm>
          <a:prstGeom prst="rect">
            <a:avLst/>
          </a:prstGeom>
          <a:solidFill>
            <a:srgbClr val="1E2D4D"/>
          </a:solidFill>
          <a:ln w="12700">
            <a:solidFill>
              <a:srgbClr val="DB27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4"/>
          <p:cNvSpPr/>
          <p:nvPr/>
        </p:nvSpPr>
        <p:spPr>
          <a:xfrm>
            <a:off x="3456432" y="3163824"/>
            <a:ext cx="475488" cy="475488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016" y="326440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59936" y="3127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WebSocket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669280" y="3108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</a:rPr>
              <a:t>#5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456432" y="35935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Live step-by-step progress streamed from the server.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217920" y="2999232"/>
            <a:ext cx="2743200" cy="1600200"/>
          </a:xfrm>
          <a:prstGeom prst="rect">
            <a:avLst/>
          </a:prstGeom>
          <a:solidFill>
            <a:srgbClr val="1E2D4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29"/>
          <p:cNvSpPr/>
          <p:nvPr/>
        </p:nvSpPr>
        <p:spPr>
          <a:xfrm>
            <a:off x="6382512" y="3163824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326440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86016" y="3127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Multi-format Input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595360" y="3108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#6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382512" y="35935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Accepts PDF (+ OCR for scanned), DOCX, and TXT resumes.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Clean three-tier architecture — every layer independently testable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361188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5029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11480" y="1252728"/>
            <a:ext cx="475488" cy="47548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533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167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F46E5"/>
                </a:solidFill>
              </a:rPr>
              <a:t>Next.js 15 · TypeScript · Tailwind CSS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1480" y="215798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App Router + Server Components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2560320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411480" y="26243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useAnalysis WebSocket hook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3026664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411480" y="30906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RadialScore SVG chart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3493008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11480" y="355701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AtsResumeViewer + Accordions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3959352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1148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TypeScript mirror Pydantic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017520" y="3063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3200400" y="1234440"/>
            <a:ext cx="2697480" cy="3611880"/>
          </a:xfrm>
          <a:prstGeom prst="rect">
            <a:avLst/>
          </a:prstGeom>
          <a:solidFill>
            <a:srgbClr val="1E2D4D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3200400" y="1234440"/>
            <a:ext cx="269748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3291840" y="1252728"/>
            <a:ext cx="475488" cy="47548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35331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40480" y="13167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329184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6B6D4"/>
                </a:solidFill>
              </a:rPr>
              <a:t>FastAPI · Python 3.12 · SQLAlchemy 2.0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291840" y="215798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Async REST + WebSocket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291840" y="2560320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4"/>
          <p:cNvSpPr/>
          <p:nvPr/>
        </p:nvSpPr>
        <p:spPr>
          <a:xfrm>
            <a:off x="3291840" y="26243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SlowAPI rate limiting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291840" y="3026664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6"/>
          <p:cNvSpPr/>
          <p:nvPr/>
        </p:nvSpPr>
        <p:spPr>
          <a:xfrm>
            <a:off x="3291840" y="30906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CORS + TrustedHost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291840" y="3493008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8"/>
          <p:cNvSpPr/>
          <p:nvPr/>
        </p:nvSpPr>
        <p:spPr>
          <a:xfrm>
            <a:off x="3291840" y="355701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Thread pool for AI calls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291840" y="3959352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0"/>
          <p:cNvSpPr/>
          <p:nvPr/>
        </p:nvSpPr>
        <p:spPr>
          <a:xfrm>
            <a:off x="329184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In-memory file processing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897880" y="3063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2"/>
          <p:cNvSpPr/>
          <p:nvPr/>
        </p:nvSpPr>
        <p:spPr>
          <a:xfrm>
            <a:off x="6080760" y="1234440"/>
            <a:ext cx="2697480" cy="361188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3"/>
          <p:cNvSpPr/>
          <p:nvPr/>
        </p:nvSpPr>
        <p:spPr>
          <a:xfrm>
            <a:off x="6080760" y="1234440"/>
            <a:ext cx="269748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Shape 34"/>
          <p:cNvSpPr/>
          <p:nvPr/>
        </p:nvSpPr>
        <p:spPr>
          <a:xfrm>
            <a:off x="6172200" y="1252728"/>
            <a:ext cx="475488" cy="47548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353312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720840" y="13167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Database + AI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617220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0B981"/>
                </a:solidFill>
              </a:rPr>
              <a:t>PostgreSQL 17 · Jina AI · Groq / Gemini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6172200" y="215798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match_history table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172200" y="2560320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39"/>
          <p:cNvSpPr/>
          <p:nvPr/>
        </p:nvSpPr>
        <p:spPr>
          <a:xfrm>
            <a:off x="6172200" y="26243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asyncpg pool (size 10)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172200" y="3026664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1"/>
          <p:cNvSpPr/>
          <p:nvPr/>
        </p:nvSpPr>
        <p:spPr>
          <a:xfrm>
            <a:off x="6172200" y="30906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Jina embeddings (1024-dim)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6172200" y="3493008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3"/>
          <p:cNvSpPr/>
          <p:nvPr/>
        </p:nvSpPr>
        <p:spPr>
          <a:xfrm>
            <a:off x="6172200" y="355701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Groq LLaMA-3.3-70b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6172200" y="3959352"/>
            <a:ext cx="2514600" cy="0"/>
          </a:xfrm>
          <a:prstGeom prst="line">
            <a:avLst/>
          </a:prstGeom>
          <a:noFill/>
          <a:ln w="635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5"/>
          <p:cNvSpPr/>
          <p:nvPr/>
        </p:nvSpPr>
        <p:spPr>
          <a:xfrm>
            <a:off x="617220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Auto provider switching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7132320" y="914400"/>
            <a:ext cx="137160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Text 47"/>
          <p:cNvSpPr/>
          <p:nvPr/>
        </p:nvSpPr>
        <p:spPr>
          <a:xfrm>
            <a:off x="7132320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WebSocket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From raw file to ATS resume — 7 server-side stages streamed via WebSocket (Real-Time)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097280" cy="201168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097280" cy="3200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4597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PDF/DOCX/TXT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417320" y="2148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1554480" y="1143000"/>
            <a:ext cx="1097280" cy="2011680"/>
          </a:xfrm>
          <a:prstGeom prst="rect">
            <a:avLst/>
          </a:prstGeom>
          <a:solidFill>
            <a:srgbClr val="1E2D4D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1554480" y="1143000"/>
            <a:ext cx="1097280" cy="3200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155448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16002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600200" y="24597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PyMuPDF / OCR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2651760" y="2148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2788920" y="1143000"/>
            <a:ext cx="1097280" cy="2011680"/>
          </a:xfrm>
          <a:prstGeom prst="rect">
            <a:avLst/>
          </a:prstGeom>
          <a:solidFill>
            <a:srgbClr val="1E2D4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2788920" y="1143000"/>
            <a:ext cx="109728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6"/>
          <p:cNvSpPr/>
          <p:nvPr/>
        </p:nvSpPr>
        <p:spPr>
          <a:xfrm>
            <a:off x="278892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16002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83464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834640" y="24597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Jina vectors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886200" y="2148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0"/>
          <p:cNvSpPr/>
          <p:nvPr/>
        </p:nvSpPr>
        <p:spPr>
          <a:xfrm>
            <a:off x="4023360" y="1143000"/>
            <a:ext cx="1097280" cy="2011680"/>
          </a:xfrm>
          <a:prstGeom prst="rect">
            <a:avLst/>
          </a:prstGeom>
          <a:solidFill>
            <a:srgbClr val="1E2D4D"/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1"/>
          <p:cNvSpPr/>
          <p:nvPr/>
        </p:nvSpPr>
        <p:spPr>
          <a:xfrm>
            <a:off x="4023360" y="1143000"/>
            <a:ext cx="109728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402336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06908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069080" y="24597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Cosine + keyword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5120640" y="2148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26"/>
          <p:cNvSpPr/>
          <p:nvPr/>
        </p:nvSpPr>
        <p:spPr>
          <a:xfrm>
            <a:off x="5257800" y="1143000"/>
            <a:ext cx="1097280" cy="2011680"/>
          </a:xfrm>
          <a:prstGeom prst="rect">
            <a:avLst/>
          </a:prstGeom>
          <a:solidFill>
            <a:srgbClr val="1E2D4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27"/>
          <p:cNvSpPr/>
          <p:nvPr/>
        </p:nvSpPr>
        <p:spPr>
          <a:xfrm>
            <a:off x="5257800" y="1143000"/>
            <a:ext cx="10972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28"/>
          <p:cNvSpPr/>
          <p:nvPr/>
        </p:nvSpPr>
        <p:spPr>
          <a:xfrm>
            <a:off x="52578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160020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0352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Gap Analysis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303520" y="24597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LLM JSON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6355080" y="2148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2"/>
          <p:cNvSpPr/>
          <p:nvPr/>
        </p:nvSpPr>
        <p:spPr>
          <a:xfrm>
            <a:off x="6492240" y="1143000"/>
            <a:ext cx="1097280" cy="201168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Shape 33"/>
          <p:cNvSpPr/>
          <p:nvPr/>
        </p:nvSpPr>
        <p:spPr>
          <a:xfrm>
            <a:off x="6492240" y="1143000"/>
            <a:ext cx="10972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4"/>
          <p:cNvSpPr/>
          <p:nvPr/>
        </p:nvSpPr>
        <p:spPr>
          <a:xfrm>
            <a:off x="649224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00200"/>
            <a:ext cx="457200" cy="4572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53796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ATS Resume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6537960" y="24597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Markdown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7589520" y="21488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38"/>
          <p:cNvSpPr/>
          <p:nvPr/>
        </p:nvSpPr>
        <p:spPr>
          <a:xfrm>
            <a:off x="7726680" y="1143000"/>
            <a:ext cx="1097280" cy="2011680"/>
          </a:xfrm>
          <a:prstGeom prst="rect">
            <a:avLst/>
          </a:prstGeom>
          <a:solidFill>
            <a:srgbClr val="1E2D4D"/>
          </a:solidFill>
          <a:ln w="12700">
            <a:solidFill>
              <a:srgbClr val="DB27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7" name="Shape 39"/>
          <p:cNvSpPr/>
          <p:nvPr/>
        </p:nvSpPr>
        <p:spPr>
          <a:xfrm>
            <a:off x="7726680" y="1143000"/>
            <a:ext cx="1097280" cy="32004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8" name="Text 40"/>
          <p:cNvSpPr/>
          <p:nvPr/>
        </p:nvSpPr>
        <p:spPr>
          <a:xfrm>
            <a:off x="772668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1600200"/>
            <a:ext cx="457200" cy="45720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77240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Download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7772400" y="24597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4 formats</a:t>
            </a:r>
            <a:endParaRPr lang="en-US" sz="750" dirty="0"/>
          </a:p>
        </p:txBody>
      </p:sp>
      <p:sp>
        <p:nvSpPr>
          <p:cNvPr id="52" name="Shape 43"/>
          <p:cNvSpPr/>
          <p:nvPr/>
        </p:nvSpPr>
        <p:spPr>
          <a:xfrm>
            <a:off x="320040" y="3337560"/>
            <a:ext cx="8503920" cy="146304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Text 44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Hybrid Score Formula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3730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 =  (cosine × 0.60)  +  (TF-keyword × 0.40)</a:t>
            </a:r>
            <a:endParaRPr lang="en-US" sz="1200" dirty="0"/>
          </a:p>
        </p:txBody>
      </p:sp>
      <p:sp>
        <p:nvSpPr>
          <p:cNvPr id="55" name="Text 46"/>
          <p:cNvSpPr/>
          <p:nvPr/>
        </p:nvSpPr>
        <p:spPr>
          <a:xfrm>
            <a:off x="5486400" y="34564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If final &lt; 85% → gap 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Weights configurable via env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Progress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</a:rPr>
              <a:t>Real server events replace fake client-side timers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291840"/>
          </a:xfrm>
          <a:prstGeom prst="rect">
            <a:avLst/>
          </a:prstGeom>
          <a:solidFill>
            <a:srgbClr val="1E2D4D"/>
          </a:solidFill>
          <a:ln w="127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BEFORE (HTTP + fake)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</a:rPr>
              <a:t>✗  setTimeout simulation — no real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</a:rPr>
              <a:t>✗  Fixed delays regardless of progress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</a:rPr>
              <a:t>✗  No way to show real errors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</a:rPr>
              <a:t>✗  Score preview impossible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</a:rPr>
              <a:t>✗  Silent disconnect cancels job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188720"/>
            <a:ext cx="4251960" cy="329184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526280" y="1188720"/>
            <a:ext cx="425196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AFTER (WebSocket real-time)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</a:rPr>
              <a:t>✓  Server fires real pipeline events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</a:rPr>
              <a:t>✓  Score preview appears immediately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</a:rPr>
              <a:t>✓  Errors carry exact code + message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</a:rPr>
              <a:t>✓  Auto HTTP fallback if needed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</a:rPr>
              <a:t>✓  3-minute timeout + clean disconnect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5196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Events:  status · score_preview · result · error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Tiers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280160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≥ 85%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19072" y="1051560"/>
            <a:ext cx="7059168" cy="68580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874520" y="1106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Strong Match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37160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 gap analysis. Focus on polish.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1280160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70–84%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719072" y="1892808"/>
            <a:ext cx="7059168" cy="685800"/>
          </a:xfrm>
          <a:prstGeom prst="rect">
            <a:avLst/>
          </a:prstGeom>
          <a:solidFill>
            <a:srgbClr val="1E2D4D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87452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Good Match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221284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Gap analysis runs. Minor skills missing.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128016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65760" y="282549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50–69%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719072" y="2734056"/>
            <a:ext cx="7059168" cy="685800"/>
          </a:xfrm>
          <a:prstGeom prst="rect">
            <a:avLst/>
          </a:prstGeom>
          <a:solidFill>
            <a:srgbClr val="1E2D4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8745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Partial Match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74520" y="3054096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Significant gaps. Resources provided.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1280160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365760" y="366674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&lt; 50%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719072" y="3575304"/>
            <a:ext cx="7059168" cy="685800"/>
          </a:xfrm>
          <a:prstGeom prst="rect">
            <a:avLst/>
          </a:prstGeom>
          <a:solidFill>
            <a:srgbClr val="1E2D4D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874520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Weak Match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89534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Major misalignment. Full rewrite.</a:t>
            </a:r>
            <a:endParaRPr lang="en-US" sz="10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4434840"/>
          <a:ext cx="8412480" cy="64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&amp; Skills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1E2D4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LLM → Strict JSON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missing_skills: [...], improvements: [...], summary: "..." }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97480" cy="2423160"/>
          </a:xfrm>
          <a:prstGeom prst="rect">
            <a:avLst/>
          </a:prstGeom>
          <a:solidFill>
            <a:srgbClr val="1E2D4D"/>
          </a:solidFill>
          <a:ln w="127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75488" cy="4754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2212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Missing Skills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2724912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Technical tools in JD but absent from resume. Links to YouTube, Coursera, docs.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2103120"/>
            <a:ext cx="2697480" cy="2423160"/>
          </a:xfrm>
          <a:prstGeom prst="rect">
            <a:avLst/>
          </a:prstGeom>
          <a:solidFill>
            <a:srgbClr val="1E2D4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429000" y="224028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3408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41648" y="2212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Improvements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0712" y="2724912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Actionable suggestions: quantify metrics, reframe bullets, add certifications.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2103120"/>
            <a:ext cx="2697480" cy="242316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6309360" y="2240280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23408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22008" y="2212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Resume Enhancement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91072" y="2724912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Weave selections into existing resume naturally. No fabrication.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7"/>
          <p:cNvSpPr/>
          <p:nvPr/>
        </p:nvSpPr>
        <p:spPr>
          <a:xfrm>
            <a:off x="502920" y="4681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Resource Links per Skill:  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0" y="4681728"/>
            <a:ext cx="164592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19"/>
          <p:cNvSpPr/>
          <p:nvPr/>
        </p:nvSpPr>
        <p:spPr>
          <a:xfrm>
            <a:off x="2743200" y="4681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YouTube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0" y="4681728"/>
            <a:ext cx="164592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1"/>
          <p:cNvSpPr/>
          <p:nvPr/>
        </p:nvSpPr>
        <p:spPr>
          <a:xfrm>
            <a:off x="4572000" y="4681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Coursera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400800" y="4681728"/>
            <a:ext cx="164592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3"/>
          <p:cNvSpPr/>
          <p:nvPr/>
        </p:nvSpPr>
        <p:spPr>
          <a:xfrm>
            <a:off x="6400800" y="4681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Resume Builder &amp; Download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057400" cy="3108960"/>
          </a:xfrm>
          <a:prstGeom prst="rect">
            <a:avLst/>
          </a:prstGeom>
          <a:solidFill>
            <a:srgbClr val="1E2D4D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5740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PDF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ReportLab Platypus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Unicode, H1–H3, colors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2057400" cy="3108960"/>
          </a:xfrm>
          <a:prstGeom prst="rect">
            <a:avLst/>
          </a:prstGeom>
          <a:solidFill>
            <a:srgbClr val="1E2D4D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20574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51460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DOCX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python-docx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Editable styles, standard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2057400" cy="3108960"/>
          </a:xfrm>
          <a:prstGeom prst="rect">
            <a:avLst/>
          </a:prstGeom>
          <a:solidFill>
            <a:srgbClr val="1E2D4D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205740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66344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Markdown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Client-side, instant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1143000"/>
            <a:ext cx="2057400" cy="310896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812280" y="1143000"/>
            <a:ext cx="20574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81228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TXT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Plain 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103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Max compatibility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E2D4D"/>
          </a:solidFill>
          <a:ln w="127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02920" y="4462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Anti-Hallucination: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4462272"/>
            <a:ext cx="6126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Never fabricates companies, dates, or metrics. Skills without basis → 'Familiar With' only.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150876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84632" y="1252728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533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1252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Disk I/O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" y="16733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All extraction in-memory using BytesIO. Never written to filesystem.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743200" cy="150876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3410712" y="1252728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135331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5928" y="1252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CORS + TrustedHost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0712" y="16733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Strict origin allowlist. Prevents Host-header injection.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1143000"/>
            <a:ext cx="2743200" cy="1508760"/>
          </a:xfrm>
          <a:prstGeom prst="rect">
            <a:avLst/>
          </a:prstGeom>
          <a:solidFill>
            <a:srgbClr val="1E2D4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6336792" y="1252728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3533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22008" y="1252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Rate Limiting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36792" y="16733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SlowAPI per-IP: 10/min analyze, 20/min download, 30/min history.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20040" y="2743200"/>
            <a:ext cx="2743200" cy="1508760"/>
          </a:xfrm>
          <a:prstGeom prst="rect">
            <a:avLst/>
          </a:prstGeom>
          <a:solidFill>
            <a:srgbClr val="1E2D4D"/>
          </a:solidFill>
          <a:ln w="127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484632" y="2852928"/>
            <a:ext cx="475488" cy="4754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29535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9848" y="2852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 Validation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4632" y="32735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Magic byte check, size limit, encryption detection — before processing.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46120" y="2743200"/>
            <a:ext cx="2743200" cy="1508760"/>
          </a:xfrm>
          <a:prstGeom prst="rect">
            <a:avLst/>
          </a:prstGeom>
          <a:solidFill>
            <a:srgbClr val="1E2D4D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3410712" y="2852928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296" y="295351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95928" y="2852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Parameterised Queries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10712" y="32735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SQLAlchemy ORM only — zero raw SQL. Injection impossible.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72200" y="2743200"/>
            <a:ext cx="2743200" cy="1508760"/>
          </a:xfrm>
          <a:prstGeom prst="rect">
            <a:avLst/>
          </a:prstGeom>
          <a:solidFill>
            <a:srgbClr val="1E2D4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3"/>
          <p:cNvSpPr/>
          <p:nvPr/>
        </p:nvSpPr>
        <p:spPr>
          <a:xfrm>
            <a:off x="6336792" y="2852928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95351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22008" y="2852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Limits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36792" y="32735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JD capped 20k chars. Strict Content-Type headers.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20040" y="4709160"/>
            <a:ext cx="8458200" cy="365760"/>
          </a:xfrm>
          <a:prstGeom prst="rect">
            <a:avLst/>
          </a:prstGeom>
          <a:solidFill>
            <a:srgbClr val="1E2D4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Text 27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🔑  API keys are server-side only — never exposed to browser or responses.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60520" cy="365760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1042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60520" cy="3657600"/>
          </a:xfrm>
          <a:prstGeom prst="rect">
            <a:avLst/>
          </a:prstGeom>
          <a:solidFill>
            <a:srgbClr val="1E2D4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800600" y="1042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0939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2951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49631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6974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analysis.py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89864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analysis_ws.py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0998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resume.py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30098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50215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ai_service.py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7033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document_service.py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90448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resume_builder.py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4904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6916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page.tsx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189280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layout.tsx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0939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2951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Dashboard.tsx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49631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RadialScore.tsx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26974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GapAnalysis.tsx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89864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AtsViewer.tsx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0998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30098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useAnalysis.ts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350215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7033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api-client.ts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1E2D4D"/>
          </a:solidFill>
          <a:ln w="127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✗  No user auth yet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✗  OCR requires Tesseract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5511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✗  PDF uses core fonts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217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✗  No cover letter yet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960120"/>
            <a:ext cx="4251960" cy="3566160"/>
          </a:xfrm>
          <a:prstGeom prst="rect">
            <a:avLst/>
          </a:prstGeom>
          <a:solidFill>
            <a:srgbClr val="1E2D4D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4526280" y="960120"/>
            <a:ext cx="425196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663440" y="1005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Roadmap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</a:rPr>
              <a:t>✓  #2: OCR via pytesseract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</a:rPr>
              <a:t>✓  #3: Cover Letter Generator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5511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</a:rPr>
              <a:t>✓  #4: 3 PDF visual themes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31181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</a:rPr>
              <a:t>✓  #5: Batch analysis (1 resume vs N JDs)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6850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</a:rPr>
              <a:t>✓  #6: OAuth2 multi-user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Strategy:  AI_PROVIDER=auto → Jina+Groq (free) | Gemini (paid if key set)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7C3AED">
              <a:alpha val="9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8229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AlignAI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737360" y="1600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</a:rPr>
              <a:t>Turns resume guesswork into measurable intelligence.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1600200" cy="123444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768–1024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Embedding dims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194560" y="2286000"/>
            <a:ext cx="1600200" cy="123444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2194560" y="2331720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60/40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194560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Semantic/Keyword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31920" y="2286000"/>
            <a:ext cx="1600200" cy="123444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3931920" y="2331720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&lt; 15s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931920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Avg. time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0" y="2286000"/>
            <a:ext cx="1600200" cy="123444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5669280" y="2331720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4 formats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669280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PDF·DOCX·MD·TXT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406640" y="2286000"/>
            <a:ext cx="1600200" cy="1234440"/>
          </a:xfrm>
          <a:prstGeom prst="rect">
            <a:avLst/>
          </a:prstGeom>
          <a:solidFill>
            <a:srgbClr val="1E2D4D"/>
          </a:solidFill>
          <a:ln w="12700">
            <a:solidFill>
              <a:srgbClr val="4F46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7406640" y="2331720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Free tier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406640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Jina+Groq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8321040" cy="822960"/>
          </a:xfrm>
          <a:prstGeom prst="rect">
            <a:avLst/>
          </a:prstGeom>
          <a:solidFill>
            <a:srgbClr val="1E2D4D"/>
          </a:solidFill>
          <a:ln w="12700">
            <a:solidFill>
              <a:srgbClr val="1E2D4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594360" y="3840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Production-grade AI platform — in-memory processing, real-time WebSocket, multi-provider AI, security-hardened, ready to deploy.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1090</Words>
  <Application>Microsoft Office PowerPoint</Application>
  <PresentationFormat>On-screen Show (16:9)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AlignAI — Semantic Resume Matcher</dc:title>
  <dc:subject>Project Presentation</dc:subject>
  <dc:creator>PptxGenJS</dc:creator>
  <cp:lastModifiedBy>Syed Mawahid Hussain</cp:lastModifiedBy>
  <cp:revision>7</cp:revision>
  <dcterms:created xsi:type="dcterms:W3CDTF">2026-04-27T18:50:39Z</dcterms:created>
  <dcterms:modified xsi:type="dcterms:W3CDTF">2026-05-02T07:07:47Z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2026-04-27T18:51:58Z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abd49434-797e-45b2-9ece-f9f087e5c554</vt:lpwstr>
  </property>
  <property fmtid="{D5CDD505-2E9C-101B-9397-08002B2CF9AE}" pid="7" name="MSIP_Label_defa4170-0d19-0005-0004-bc88714345d2_ActionId">
    <vt:lpwstr>043c5773-6ff5-4250-8bc8-7fb1e0d35477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